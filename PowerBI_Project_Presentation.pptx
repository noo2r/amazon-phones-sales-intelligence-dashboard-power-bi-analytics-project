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85FA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185FA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185FA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2412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PHONES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560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Intelligence Dashboard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 BI Final Project — Data Cleaning, DAX Modeling &amp; Dashboard Design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89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Eldin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— AAST  |  Power BI Final Project, 2025-2026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Amazon listing data into actionable retail insight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Amazon phone listings scraped via the Phone Search dataset — covering pricing, ratings, offers, sales volume, and product badges (Prime, Best Seller, Amazon Choice, Climate Pledge Friendly).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modeled, and fully interactive Power BI report that answers core retail questions: how are phones priced, how do they sell, and which product badges actually correlate with performance.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badge data sit at the center of how shoppers compare phones on Amazon — this report turns that noisy listing data into a model that's easy to query and trust.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5080" y="1600200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18013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56248" y="231343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the 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56248" y="267919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types, parse text fields, handle nulls in Power Query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061704" y="1600200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872" y="18013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62872" y="231343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with DAX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9262872" y="267919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+ 13 measures for KPIs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55080" y="4005072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420624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56248" y="471830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Clearly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556248" y="5084064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metric to the right chart type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061704" y="4005072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42062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62872" y="471830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Exploration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9262872" y="5084064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live, cross-filtered analysis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six KPIs, nine visuals, six live slicers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94832" y="1252728"/>
            <a:ext cx="9571856" cy="5495544"/>
          </a:xfrm>
          <a:prstGeom prst="roundRect">
            <a:avLst>
              <a:gd name="adj" fmla="val 6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984" y="1325880"/>
            <a:ext cx="942555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KPI cards and charts work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08660" y="14630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E6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7335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5900" y="15727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Product Price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85900" y="1828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$173.59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66260" y="14630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E6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67335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3500" y="15727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Star Rating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143500" y="1828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4.08 ★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8023860" y="14630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E6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167335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01100" y="15727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Volume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801100" y="1828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135.80K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617220" y="2880360"/>
            <a:ext cx="365760" cy="3657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7" name="Text 12"/>
          <p:cNvSpPr/>
          <p:nvPr/>
        </p:nvSpPr>
        <p:spPr>
          <a:xfrm>
            <a:off x="6172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120140" y="2862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Distribution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17220" y="34290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Distribution, Avg Price by Segment, and Discount Analysis show how 340 phones spread across price tiers — most listings cluster under $200.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320540" y="2880360"/>
            <a:ext cx="365760" cy="3657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21" name="Text 16"/>
          <p:cNvSpPr/>
          <p:nvPr/>
        </p:nvSpPr>
        <p:spPr>
          <a:xfrm>
            <a:off x="43205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23460" y="2862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Categories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4320540" y="34290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Distribution, Prime vs Non-Prime, and Best Seller vs Amazon Choice reveal that the catalog is rating-strong but badge-sparse.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023860" y="2880360"/>
            <a:ext cx="365760" cy="3657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25" name="Text 20"/>
          <p:cNvSpPr/>
          <p:nvPr/>
        </p:nvSpPr>
        <p:spPr>
          <a:xfrm>
            <a:off x="80238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526780" y="2862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Top Performers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8023860" y="34290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by Price Range and the Top 10 by Sales table pinpoint exactly which products and price bands drive real purchase volume.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230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66928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63040" y="54864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layout works:  </a:t>
            </a:r>
            <a:pPr indent="0" marL="0">
              <a:buNone/>
            </a:pPr>
            <a:r>
              <a:rPr lang="en-US" sz="1300" dirty="0">
                <a:solidFill>
                  <a:srgbClr val="C9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card is backed by at least one chart below it, so a viewer can move from headline number to underlying detail without leaving the page.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from the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340-product catalog actually tells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E6F1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4650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are rare, not the norm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Best Sellers and 1 Amazon Choice product exist among 340 listings — these badges are exceptions, not reliable quality signals at scale.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E6F1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4650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dominates the catalog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5146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 of products are Prime-eligible, confirming Prime shipping has become a baseline customer expectation rather than a differentiator.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E6F1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3434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6966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Mid-range price wins on volume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937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$50–$200 price band drives the highest total sales volume, well above premium ($500+) and budget (&lt;$50) segments.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06240"/>
            <a:ext cx="548640" cy="548640"/>
          </a:xfrm>
          <a:prstGeom prst="ellipse">
            <a:avLst/>
          </a:prstGeom>
          <a:solidFill>
            <a:srgbClr val="E6F1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434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6966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Climate-friendly is a growing niche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4937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23.51% of products carry the Climate Pledge Friendly badge — a meaningful share, but still a minority positioning.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a measured, modeled data 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6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56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types, stripped currency symbols, parsed sales volume text, handled nulls across price &amp; availability fields.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3236976"/>
            <a:ext cx="292608" cy="292608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5264" y="3310128"/>
            <a:ext cx="146304" cy="1463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10712" y="16916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93592" y="1856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593592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Columns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93592" y="28346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Amount, Discount %, Price Range, Product Label, Rating Category — derived per-row fields.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52744" y="3236976"/>
            <a:ext cx="292608" cy="292608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3310128"/>
            <a:ext cx="146304" cy="146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81344" y="16916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6F1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64224" y="1856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364224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64224" y="28346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measures: avg price, avg rating, total sales volume, best seller/Amazon choice counts, climate-friendly %, and more.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723376" y="3236976"/>
            <a:ext cx="292608" cy="292608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3310128"/>
            <a:ext cx="146304" cy="14630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951976" y="16916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7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34856" y="1856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9134856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Build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9134856" y="28346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cards + 9 visuals + 6 slicers, themed in a consistent blue palette with full cross-filtering enabled.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185FA5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delivers, and where it could go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Achieves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848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057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cleaned, type-correct dataset ready for analysis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6243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DAX measures answering every required business question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186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1912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report combining KPIs, 9 visuals, and live slicers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8561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7581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Cross-filtered, interactive exploration of 340 Amazon listings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A3D6B"/>
          </a:solidFill>
          <a:ln/>
        </p:spPr>
      </p:sp>
      <p:sp>
        <p:nvSpPr>
          <p:cNvPr id="15" name="Text 9"/>
          <p:cNvSpPr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for Future Iterations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537960" y="2350008"/>
            <a:ext cx="201168" cy="20116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7" name="Text 11"/>
          <p:cNvSpPr/>
          <p:nvPr/>
        </p:nvSpPr>
        <p:spPr>
          <a:xfrm>
            <a:off x="6537960" y="2350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858000" y="227685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sales volume over time once historical snapshots are available, to show trend rather than a single point in time.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537960" y="3108960"/>
            <a:ext cx="201168" cy="20116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0" name="Text 14"/>
          <p:cNvSpPr/>
          <p:nvPr/>
        </p:nvSpPr>
        <p:spPr>
          <a:xfrm>
            <a:off x="6537960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858000" y="303580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badge sample (Best Seller, Amazon Choice) by pulling a larger product set, since current counts are too small to generalize from.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537960" y="3867912"/>
            <a:ext cx="201168" cy="20116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3" name="Text 17"/>
          <p:cNvSpPr/>
          <p:nvPr/>
        </p:nvSpPr>
        <p:spPr>
          <a:xfrm>
            <a:off x="6537960" y="3867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858000" y="379476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brand/manufacturer dimension to compare pricing and rating performance across competitors.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537960" y="4626864"/>
            <a:ext cx="201168" cy="20116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6" name="Text 20"/>
          <p:cNvSpPr/>
          <p:nvPr/>
        </p:nvSpPr>
        <p:spPr>
          <a:xfrm>
            <a:off x="6537960" y="4626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858000" y="4553712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review text sentiment to complement the numeric star rating with qualitative customer feedback.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Phones Sales Intelligence — Power BI Project</dc:title>
  <dc:subject>PptxGenJS Presentation</dc:subject>
  <dc:creator>Nour Eldin</dc:creator>
  <cp:lastModifiedBy>Nour Eldin</cp:lastModifiedBy>
  <cp:revision>1</cp:revision>
  <dcterms:created xsi:type="dcterms:W3CDTF">2026-06-17T20:34:21Z</dcterms:created>
  <dcterms:modified xsi:type="dcterms:W3CDTF">2026-06-17T20:34:21Z</dcterms:modified>
</cp:coreProperties>
</file>